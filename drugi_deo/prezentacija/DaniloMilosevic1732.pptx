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84" Type="http://schemas.openxmlformats.org/officeDocument/2006/relationships/slide" Target="slides/slide79.xml"/><Relationship Id="rId83" Type="http://schemas.openxmlformats.org/officeDocument/2006/relationships/slide" Target="slides/slide78.xml"/><Relationship Id="rId42" Type="http://schemas.openxmlformats.org/officeDocument/2006/relationships/slide" Target="slides/slide37.xml"/><Relationship Id="rId86" Type="http://schemas.openxmlformats.org/officeDocument/2006/relationships/slide" Target="slides/slide81.xml"/><Relationship Id="rId41" Type="http://schemas.openxmlformats.org/officeDocument/2006/relationships/slide" Target="slides/slide36.xml"/><Relationship Id="rId85" Type="http://schemas.openxmlformats.org/officeDocument/2006/relationships/slide" Target="slides/slide80.xml"/><Relationship Id="rId44" Type="http://schemas.openxmlformats.org/officeDocument/2006/relationships/slide" Target="slides/slide39.xml"/><Relationship Id="rId88" Type="http://schemas.openxmlformats.org/officeDocument/2006/relationships/slide" Target="slides/slide83.xml"/><Relationship Id="rId43" Type="http://schemas.openxmlformats.org/officeDocument/2006/relationships/slide" Target="slides/slide38.xml"/><Relationship Id="rId87" Type="http://schemas.openxmlformats.org/officeDocument/2006/relationships/slide" Target="slides/slide82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schemas.openxmlformats.org/officeDocument/2006/relationships/slide" Target="slides/slide72.xml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79" Type="http://schemas.openxmlformats.org/officeDocument/2006/relationships/slide" Target="slides/slide74.xml"/><Relationship Id="rId34" Type="http://schemas.openxmlformats.org/officeDocument/2006/relationships/slide" Target="slides/slide29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sr-Cyrl-R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5" name="Google Shape;145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" name="Google Shape;168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8" name="Google Shape;218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2" name="Google Shape;242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4" name="Google Shape;254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0" name="Google Shape;270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2" name="Google Shape;282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4" name="Google Shape;294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6" name="Google Shape;306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0" name="Google Shape;320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2" name="Google Shape;332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9" name="Google Shape;349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0" name="Google Shape;360;p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2" name="Google Shape;372;p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5" name="Google Shape;385;p2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9" name="Google Shape;399;p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0" name="Google Shape;410;p2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2" name="Google Shape;422;p2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4" name="Google Shape;434;p3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6" name="Google Shape;446;p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7" name="Google Shape;457;p3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0" name="Google Shape;470;p3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82" name="Google Shape;482;p3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3" name="Google Shape;493;p3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05" name="Google Shape;505;p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7" name="Google Shape;517;p3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3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3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ee13cb5128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g3ee13cb5128_0_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4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8" name="Google Shape;578;p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0" name="Google Shape;590;p4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2" name="Google Shape;602;p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4" name="Google Shape;614;p4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6" name="Google Shape;626;p4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9" name="Google Shape;639;p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0" name="Google Shape;650;p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62" name="Google Shape;662;p4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4" name="Google Shape;674;p4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6" name="Google Shape;686;p5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8" name="Google Shape;698;p5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9" name="Google Shape;709;p5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1" name="Google Shape;721;p5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3" name="Google Shape;733;p5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46" name="Google Shape;746;p5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59" name="Google Shape;759;p5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1" name="Google Shape;771;p5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3" name="Google Shape;783;p5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5" name="Google Shape;795;p5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7" name="Google Shape;807;p6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19" name="Google Shape;819;p6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0" name="Google Shape;830;p6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6" name="Google Shape;846;p6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8" name="Google Shape;858;p6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1" name="Google Shape;871;p6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5" name="Google Shape;885;p6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8" name="Google Shape;898;p6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0" name="Google Shape;910;p6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2" name="Google Shape;922;p6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5" name="Google Shape;935;p7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6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8" name="Google Shape;948;p7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0" name="Google Shape;960;p7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3" name="Google Shape;973;p7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3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5" name="Google Shape;985;p7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7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9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p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1" name="Google Shape;1011;p7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3" name="Google Shape;1023;p7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p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5" name="Google Shape;1035;p7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7" name="Google Shape;1047;p7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7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p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9" name="Google Shape;1059;p8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1" name="Google Shape;1071;p8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3" name="Google Shape;1083;p8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8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5" name="Google Shape;1095;p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6" name="Google Shape;1096;p8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29.png"/><Relationship Id="rId6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Relationship Id="rId4" Type="http://schemas.openxmlformats.org/officeDocument/2006/relationships/image" Target="../media/image10.png"/><Relationship Id="rId5" Type="http://schemas.openxmlformats.org/officeDocument/2006/relationships/image" Target="../media/image20.png"/><Relationship Id="rId6" Type="http://schemas.openxmlformats.org/officeDocument/2006/relationships/image" Target="../media/image11.png"/><Relationship Id="rId7" Type="http://schemas.openxmlformats.org/officeDocument/2006/relationships/image" Target="../media/image1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Relationship Id="rId4" Type="http://schemas.openxmlformats.org/officeDocument/2006/relationships/image" Target="../media/image1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7.png"/><Relationship Id="rId4" Type="http://schemas.openxmlformats.org/officeDocument/2006/relationships/image" Target="../media/image33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0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4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5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6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0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34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31.png"/><Relationship Id="rId4" Type="http://schemas.openxmlformats.org/officeDocument/2006/relationships/image" Target="../media/image44.png"/><Relationship Id="rId5" Type="http://schemas.openxmlformats.org/officeDocument/2006/relationships/image" Target="../media/image32.png"/><Relationship Id="rId6" Type="http://schemas.openxmlformats.org/officeDocument/2006/relationships/image" Target="../media/image38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42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39.png"/><Relationship Id="rId4" Type="http://schemas.openxmlformats.org/officeDocument/2006/relationships/image" Target="../media/image37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49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48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36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35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46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45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hyperlink" Target="https://www.geeksforgeeks.org/machine-learning/introduction-to-recurrent-neural-network/" TargetMode="External"/><Relationship Id="rId4" Type="http://schemas.openxmlformats.org/officeDocument/2006/relationships/hyperlink" Target="https://colah.github.io/posts/2015-08-Understanding-LSTMs/" TargetMode="External"/><Relationship Id="rId10" Type="http://schemas.openxmlformats.org/officeDocument/2006/relationships/hyperlink" Target="https://newsletter.maartengrootendorst.com/p/a-visual-guide-to-quantization" TargetMode="External"/><Relationship Id="rId9" Type="http://schemas.openxmlformats.org/officeDocument/2006/relationships/hyperlink" Target="https://kumo.ai/research/introduction-to-graph-transformers/" TargetMode="External"/><Relationship Id="rId5" Type="http://schemas.openxmlformats.org/officeDocument/2006/relationships/hyperlink" Target="https://poloclub.github.io/transformer-explainer/" TargetMode="External"/><Relationship Id="rId6" Type="http://schemas.openxmlformats.org/officeDocument/2006/relationships/hyperlink" Target="https://medium.com/data-science/introduction-to-attention-mechanism-in-deep-learning-eli5-way--d6c2d799ef18" TargetMode="External"/><Relationship Id="rId7" Type="http://schemas.openxmlformats.org/officeDocument/2006/relationships/hyperlink" Target="https://medium.com/@paulpierre/eli5-transformers-gpt-and-the-power-of-the-attention-mechanic--6504693f2c3f" TargetMode="External"/><Relationship Id="rId8" Type="http://schemas.openxmlformats.org/officeDocument/2006/relationships/hyperlink" Target="https://www.d2l.ai/chapter_attention-mechanisms-and-transformers/queries-keys-values.html" TargetMode="Externa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sr-Cyrl-RS" sz="1800" u="none" cap="none" strike="noStrike">
                <a:solidFill>
                  <a:srgbClr val="0A3AC0"/>
                </a:solidFill>
                <a:latin typeface="Arial"/>
                <a:ea typeface="Arial"/>
                <a:cs typeface="Arial"/>
                <a:sym typeface="Arial"/>
              </a:rPr>
              <a:t>jelena.nikolic@elfak.ni.ac.rs</a:t>
            </a:r>
            <a:r>
              <a:rPr b="0" i="0" lang="sr-Cyrl-R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0" y="6309320"/>
            <a:ext cx="9144000" cy="2160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12700">
            <a:solidFill>
              <a:srgbClr val="1F386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1169725" y="139859"/>
            <a:ext cx="6930667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sr-Cyrl-R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Универзитет у Нишу</a:t>
            </a:r>
            <a:endParaRPr b="1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sr-Cyrl-R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Електронски факултет</a:t>
            </a:r>
            <a:endParaRPr b="1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-464" y="2187835"/>
            <a:ext cx="9144463" cy="1552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Times New Roman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Примена вештачке интелигенције за детекцију емоција у људском говору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Times New Roman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Студентски рад</a:t>
            </a:r>
            <a:endParaRPr b="1" i="0" sz="4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2385774" y="5755850"/>
            <a:ext cx="67587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None/>
            </a:pPr>
            <a:r>
              <a:rPr b="1" i="0" lang="sr-Cyrl-R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Студент: Данило Милошевић 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None/>
            </a:pPr>
            <a:r>
              <a:rPr b="1" i="0" lang="sr-Cyrl-R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Ментор: Др Јелена Николић, редовни професор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72008" y="5877272"/>
            <a:ext cx="29877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None/>
            </a:pPr>
            <a:r>
              <a:rPr b="1" i="0" lang="sr-Cyrl-R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2026.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0" y="5076763"/>
            <a:ext cx="914446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Times New Roman"/>
              <a:buNone/>
            </a:pPr>
            <a:r>
              <a:rPr b="1" i="0" lang="sr-Cyrl-RS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Курс: Вештачка интелигенција у говору и аудио сигналима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284400"/>
            <a:ext cx="759633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1196752"/>
            <a:ext cx="395536" cy="5661248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502576" y="420000"/>
            <a:ext cx="7093760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b="1" i="0" lang="sr-Cyrl-RS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Садржај презентације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50000" y="1196752"/>
            <a:ext cx="8550000" cy="5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  Увод –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2  Основе неуронских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3  Конволуционе неуронске мреже (КНМ)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  Рекурентне неуронске мреже и трансформери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5  Граф неуронске мреже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6  Федерализовано учење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7  Конволуциони модел AVER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8  Граф модел COGMEN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9  Упоређење модела и закључак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1304764"/>
            <a:ext cx="9144000" cy="46446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-300" y="1639191"/>
            <a:ext cx="9144600" cy="13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Увод – Препознавање емоција у људском говору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Шта је аутоматско препознавање емоција?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Људски говор је обликован емоцијама – оне утичу на тон гласа, паузе, интонацију и невербалне сигнале попут израза лица.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Аутоматско препознавање емоција (АПЕ) подразумева употребу рачунарских система за идентификацију емоционалног стања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Примена је широка: здравство, аутомобилска индустрија, образовање, маркетинг, безбедност.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Аутоматско препознавање емоција је изузетно изазовна научна дисциплина собзиром да су људске емоције комплексне, субјективне и зависе од контекста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Савремени приступи ослањају се на методе дубоког учења (deep learning) и мултимодалне архитектуре.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Унимодални и Мултимодални приступ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Унимодални приступ – Користи само један извор података (говор или текст).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Прва истраживања у области препознавања емоција ослањала су се искључиво на говор или текст.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Проблем: иста реченица може носити различита емоционална значења.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Код текста: губи се информација о интонацији и тону.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Код аудио записа: без визуелних сигнала, резултати су ограничени.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Унимодалне методе не могу моделовати утицај контекста разговора.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Мултимодални приступ – Комбинује више модалитета: текст, аудио и видео.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Моделује емоционално стање свеобухватно из више извора.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Интегрише обраду природног језика, рачунарски вид и обраду аудио сигнала.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Способан да учи комплексне зависности из вишеструких извора.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Тренутно доминантан приступ у истраживачкој заједници.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Постиже значајно боље резултате у поређењу са унимодалним методама.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Примене препознавања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Здравство – Аутоматско праћење менталног здравља пацијената. Рана детекција симптома депресије и анксиозности.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Аутомобилска индустрија – Детекција умора и поспаности возача. Превенција саобраћајних несрећа у реалном времену.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Образовање – Откривање нивоа укључености ученика у материјал. Персонализација наставних метода.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Маркетинг – Анализа емоционалних реакција корисника. Прилагођавање маркетиншких кампања.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Безбедност – Откривање потенцијалних претњи на јавним местима. Примена у аеродромима и тржним центрима.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Корисничка подршка – Аутоматска детекција незадовољних клијената. Усмеравање позива ка специјализованим агентима.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9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9" title="usecas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49875" y="1364357"/>
            <a:ext cx="5822903" cy="5356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Циљ и структура рада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Главни циљ: Анализирати, упоредити и детаљно објаснити функционалности различитих архитектура неуронских мрежа за аутоматско препознавање емоција.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Структура рада: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2: Теоријске основе – Конволуционе неуронске мреже, рекурентне неуронске мреже, трансформери, граф неуронске мреже, федерализовано учење.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3: AVER модел – Конволуциони модел са федерализованим учењем.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4: COGMEN модел – граф архитектура за мултимодално препознавање емоција.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5: Упоредна анализа, закључак и будући правци истраживања.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1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1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1"/>
          <p:cNvSpPr/>
          <p:nvPr/>
        </p:nvSpPr>
        <p:spPr>
          <a:xfrm>
            <a:off x="-475" y="1660191"/>
            <a:ext cx="9144600" cy="13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Основе неуронских мрежа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Конволуционе неуронске мреже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Конволуционе неуронске мреже (КНМ) су настале 90-их година 20. века.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Базиране су на математичком концепту конволуције – операцији која мери степен преклапања двеју функција.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 КНМ, слике су 'равнане' (flattening) чиме су губљене позиционалне зависности пиксела.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КНМ решавају овај проблем – конволуциони оператор издваја просторне карактеристике (features) сигнала.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Примена у обради слика (2D) и аудио сигнала (1D и 2D преко мел спектрограма).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Главне предности: мањи број параметара, позициона инваријантност, ефикасност извршавања.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Математичка дефиниција конволуције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Конволуција је операција дефинисана над две функције f и g која производи трећу функцију f*g.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Интуитивно: конволуција мери преклапање функције g са фиксираном функцијом f када се g помера.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 случају 2D (слике): примењује се исти принцип по свим просторним осама.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Кернел (филтер) је матрица бројева чије тежине се уче током тренирања мреже.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00.png" id="214" name="Google Shape;2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56475" y="2435386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1.png" id="215" name="Google Shape;21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56475" y="3526875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4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4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4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24" title="conv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5525" y="1196745"/>
            <a:ext cx="4762500" cy="3571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4" title="dconv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52150" y="4890519"/>
            <a:ext cx="4085510" cy="1784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Конволуциони слој и кернел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Конволуциони слој примењује конволуцију улазног сигнала са N задатих кернела.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Кернел (филтер): матрица параметара која клизи дуж улазног сигнала и рачуна конволуцију.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Параметри конволуционог слоја: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Величина кернела – димензија филтера (нпр. 3×3).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Stride (корак) – број јединица за које се филтер помера.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Padding – додатни пиксели на ивицама ради очувања величине улаза.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Bias – константа која се додаје на излаз конволуције.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Активациона функција (нпр. ReLU) примењује се на излаз сваког слоја.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Тежине свих кернела уче се током тренирања путем backpropagation алгоритма.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6"/>
          <p:cNvSpPr/>
          <p:nvPr/>
        </p:nvSpPr>
        <p:spPr>
          <a:xfrm>
            <a:off x="500001" y="377647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Pooling слој и архитектура конволуционих неуронских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Pooling слој смањује димензионалност сигнала и јача позициону инваријантност: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Max pooling – узима максималну вредност из подматрице величине n×n.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pooling – узима просечну вредност подматрице.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Типична архитектура КНМ: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Улазни слој (сирови сигнал)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Конволуциони слојеви → Pooling слојеви (екстракција карактеристика)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Flatten – претварање у 1D вектор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Потпуно повезани слојеви (Dense)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Излазни слој са softmax активацијом за класификацију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Предност: смањење броја параметара уз задржавање просторних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Backpropagation </a:t>
            </a: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 конволуционих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Током тренирања конволуционе мреже, потребно је израчунати градијенте функције губитка L по свим параметрима: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η је стопа учења (learning rate) – хиперпараметар тренирања.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02.png" id="264" name="Google Shape;26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7375" y="1983767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3.png" id="265" name="Google Shape;26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07375" y="2528921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4.png" id="266" name="Google Shape;266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07375" y="3060088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6.png" id="267" name="Google Shape;2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607375" y="3615607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Конволуционе мреже за аудио сигнале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1D конволуција – Аудио у временском домену – звук описан амплитудом у времену.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Препознају се временски феатури (features).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Погодна за задатке без честих фреквентних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Примери примене: сепарација извора звука, компресија аудио на слабијим уређајима.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Пример модела: WaveNet за генерисање људског 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2D конволуција – Аудио у фреквентном домену преко мел спектрограма.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STFT (Short-Time Fourier Transform) претвара аудио у 2D слику.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Мел спектрограм – 2D матрица фреквенција и времена.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Конволуција примењена аналогно обради слика.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Пример модела: VGGish за екстракцију аудио феатура.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9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9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9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9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9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29" title="1d_audio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7800" y="1349132"/>
            <a:ext cx="8096250" cy="23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9" title="2d_conv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4975" y="3863732"/>
            <a:ext cx="8096250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0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0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0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0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0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0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0"/>
          <p:cNvSpPr/>
          <p:nvPr/>
        </p:nvSpPr>
        <p:spPr>
          <a:xfrm>
            <a:off x="-464" y="1852560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0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Рекурентне неуронске мреже и Трансформери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3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Рекурентне неуронске мреже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Стандардне неуронске мреже захтевају улазе фиксне димензије – неприкладно за секвенце различитих дужина.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Рекурентне неуронске мреже (РНМ) решавају овај проблем путем: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Повратних грана у скривеним слојевима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Скривено стање h_t суммаризује претходно виђене улазе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Обрада секвенци произвољне дужине, корак по корак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Излаз у тренутку t зависи и од тренутног улаза и од претходног стања: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Unrolling: Рекурентна мрежа са петљама се трансформише у ациклични граф ради backpropagation.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6" name="Google Shape;3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50475" y="4762975"/>
            <a:ext cx="2973345" cy="28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1" title="simpleRNN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99599" y="4297700"/>
            <a:ext cx="1750625" cy="2392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3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Проблеми стандардних рекурентних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Нестајање градијента – Настаје код активационих функција код којих је максималан извод ≤ 1 (нпр. tanh).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Током backpropagation кроз много корака, производ малих извода брзо тежи ка 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Пример: 0.9¹⁰⁰ ≈ 0.0000265 – практично нулта вредност.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Тренирање нижих слојева постаје немогуће.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Модел не може да памти дугорочне зависности у секвенци.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Експлозија градијента – Супротан проблем – извод активационе функције &gt;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Производ великих бројева брзо достиже бесконачне вредности.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Пример: 1.1¹⁰⁰ ≈ 13780 – нумеричка нестабилност.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Решења: gradient clipping, регуларизација.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Оба проблема чине класичне рекурентне мреже непрактичним за дуге секвенце.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LSTM – Архитектура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LSTM (Long Short-Term Memory) уводи посебне капије за контролу тока информација.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Три главне капије управљају меморијом ћелије C_t: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0" i="0" lang="sr-Cyrl-R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Forget gate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0" i="0" lang="sr-Cyrl-R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Input gate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0" i="0" lang="sr-Cyrl-R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Output gate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0" i="0" lang="sr-Cyrl-R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Ново стање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LSTM чува само релевантан контекст – решава проблем нестанка/експлозије градијента.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2" name="Google Shape;34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3671" y="2519275"/>
            <a:ext cx="2598250" cy="42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93676" y="3405006"/>
            <a:ext cx="2270025" cy="29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93671" y="4268025"/>
            <a:ext cx="2964023" cy="29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893672" y="5222500"/>
            <a:ext cx="2125366" cy="29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955849" y="4923275"/>
            <a:ext cx="2270025" cy="2992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4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34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4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4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3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4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7" name="Google Shape;357;p34" title="lst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950" y="1714907"/>
            <a:ext cx="7239000" cy="408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5"/>
          <p:cNvSpPr/>
          <p:nvPr/>
        </p:nvSpPr>
        <p:spPr>
          <a:xfrm>
            <a:off x="500001" y="3624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Ограничења LSTM и увод у трансформере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3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Иако LSTM значајно побољшава обраду дугих секвенци, задржавају се нека ограничења: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Скривено стање n-те ћелије је највише одређено претходном ћелијом – далеки контекст се губи.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Немогућност директног моделовања зависности удаљених делова секвенце.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Серијска природа рачунања – не може се паралелизовати.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Трансформер архитектура решава ове проблеме путем: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Attention механизма – директне зависности свих елемената секвенце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Паралелне обраде целе секвенце одједном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Позиционог кодирања за очување редоследа елемената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Трансформери су довели до LLM револуције (GPT, BERT, ChatGPT) у задњој деценији.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3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3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3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36"/>
          <p:cNvSpPr/>
          <p:nvPr/>
        </p:nvSpPr>
        <p:spPr>
          <a:xfrm>
            <a:off x="500001" y="37767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Seq2Seq модели и увод у attention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 трансформера, доминантни модели за обраду природних језика (NLP) били су Seq2Seq: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Енкодер: низ LSTM ћелија које обрађују улаз и производе контекстни вектор.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Декодер: узима контекстни вектор и генерише излаз корак по корак.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Примена: превођење језика, генерисање текста.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Проблеми Seq2Seq: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Целокупан контекст улаза мора бити смештен у јединствен вектор фиксне дужине.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Дуже секвенце губе контекст ранијих елемената – информациони уски грло.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Attention механизам решава ово директним увидом у сваки елемент улаза током генерисања.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2" name="Google Shape;382;p36" title="seq2seq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3125" y="5002875"/>
            <a:ext cx="3449350" cy="185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3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3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Attention механизам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Attention механизам омогућава моделу да директно учи зависности сваког елемента секвенце од свих осталих.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Кључна формула (Scaled Dot-Product Attention):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Q (Query матрица): представља питања тренутног елемента Q = X · W_Q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K (Key матрица): представља кључеве свих елемената K = X · W_K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 (Value матрица): садржи излазне векторе V = X · W_V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Дељење са √d_k спречава засићење softmax функције.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Multi-head attention: комбинује H паралелних attention слојева за моделовање више врста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2.png" id="395" name="Google Shape;39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0725" y="2403750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37" title="multihead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16150" y="5022575"/>
            <a:ext cx="2366725" cy="183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8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8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8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38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3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7" name="Google Shape;407;p38" title="attentio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5575" y="1668224"/>
            <a:ext cx="8061226" cy="453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9"/>
          <p:cNvSpPr/>
          <p:nvPr/>
        </p:nvSpPr>
        <p:spPr>
          <a:xfrm>
            <a:off x="0" y="1304764"/>
            <a:ext cx="9144000" cy="46446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9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9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9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9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9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9"/>
          <p:cNvSpPr/>
          <p:nvPr/>
        </p:nvSpPr>
        <p:spPr>
          <a:xfrm>
            <a:off x="-464" y="1925560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9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неуронске мреже (ГНМ)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4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неуронске мреже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Граф неуронске мреже (ГНМ или GNN) су специјализоване за примену на графовским подацима.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Граф G = (V, E) се састоји од чворова V и ивица 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Три компоненте графа: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 (Edges) – матрица ивица: чува особине ивица као embedding векторе.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 (Vertices) – матрица чворова: чува особине чворова.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 (Universal) – глобалне карактеристике целог графа.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Кључни механизам: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Message Passing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чворови графа размењују своје репрезентације са суседима.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Понављањем message passing у n корака, сваки чвор добија информације из суседа удаљених n корака.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4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4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Message Passing механизам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Message Passing се одвија у три корака по свакој итерацији: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Прикупљање (Gather)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за сваки чвор i, скупити репрезентације свих суседних чворова.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Агрегација (Aggregate)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агрегирати репрезентације (најчешће сумирањем).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Ажурирање (Update)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прикупљене репрезентације пролазе кроз update функцију (неуронску мрежу).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Понављањем n пута омогућава се проток информација кроз n скокова у графу.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Pooling операција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ρ(X→Y):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агрегира информације из компоненте X у компоненту 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Предност: Граф НМ могу се сматрати генерализацијом конволуционих и рекурентних мрежа на неправилне структуре.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2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42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42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2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2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4" name="Google Shape;454;p42" title="msgpas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175" y="2003074"/>
            <a:ext cx="7662051" cy="346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4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4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конволуционе и релационе мреже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Граф конволуциона мрежа (GCN)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Примена конволуције на графовима преко Лапласијана графа: L = D − A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Исте тежине W^(l) за све ивице – ограничење: само један тип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H^(l) је матрица репрезентација чворова у слоју 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D̃ нормализује агрегацију по броју суседа.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Релациона граф мрежа (RGCN)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Проширење GCN за граф са вишеструким типовима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Различита матрица тежина W^r за сваки тип релације 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Примена у COGMEN моделу за моделовање интра и интер говорних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3.png" id="467" name="Google Shape;467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0730" y="2850635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4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4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4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4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4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трансформер архитектура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Аналогија са проблемима рекурентних мрежа: да би чвор добио информацију удаљеног n корака, мора проћи кроз n Message Passing итерација – контекст се губи.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Oversmoothing: агрегацијом репрезентације чворова конвергирају ка истој вредности.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Решење: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Граф трансформер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уводи Attention механизам у ГНМ: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 матрица: embedding вектор чвора i (h^l_i)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 и V матрице: embedding вектори суседних чворова (h^l_j)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Информације о ивицама се укључују пре softmax операције.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Додавањем вишеструких attention head-ова учи се više различитих зависности истовремено.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Резултат: директно моделовање зависности удаљених чворова без губитка контекста.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45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5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5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45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45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0" name="Google Shape;490;p45" title="ga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7800" y="1318674"/>
            <a:ext cx="7328400" cy="523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6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6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6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6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46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46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46"/>
          <p:cNvSpPr/>
          <p:nvPr/>
        </p:nvSpPr>
        <p:spPr>
          <a:xfrm>
            <a:off x="-464" y="1886710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46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Технике оптимизације неуронских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4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4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4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4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4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4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4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Класично тренирање: сви подаци се скупљају на централном серверу – проблеми приватности и скалабилности.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дистрибуира тренинг на вишеструке уређаје (клијенте):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Централни сервер координира тренинг без приступа приватним подацима корисника.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Сваки клијент тренира модел локално на сопственим подацима.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Само ажурирани параметри (не и подаци) шаљу се централном серверу.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Приватност података – сервер никада не види оригиналне податке корисника.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Могућност тренирања на уређајима са ограниченим ресурсима.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4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4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4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4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4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4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Процес федерализованог учења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Алгоритам федерализованог учења: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Иницијализација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централни сервер иницијализује глобални модел w_0.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Избор клијената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бира се подскуп S_t клијената (насумично или по стратегији).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Дистрибуција модела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тренутни глобални модел шаље се свим клијентима паралелно.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Локални тренинг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w^i_(t+1) ← ClientUpdate(i, w_t) – тренирање на локалним подацима.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Ажурирање глобалног модела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Изазови: комуникациони трошкови, хетерогеност података, различите брзине уређаја.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4.png" id="527" name="Google Shape;527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60300" y="4373500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4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4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4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4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4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9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Квантизација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4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Комплексније неуронске мреже имају велики број тежина – свака тежина у float32 или float64 формату заузима 4 или 8 бајтова.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Велики број тежина → модел не може стати у меморију на слабијем хардверу (embedded, мобилни уређаји).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Квантизација смањује прецизност записа тежина ради смањења меморијске и процесорске захтевности.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Цена квантизације: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смањена прецизност модела, често прихватљива на хардверски ограниченим уређајима.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Најчешћи формати квантизације су bfloat16 и int8.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5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5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5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5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bfloat16 и int8 формати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5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bfloat16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конверзијом из fp32/fp64 смањује се прецизност уз очување распона вредности: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sign бит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Експонент – 8 бита, исто као код fp32 (исти распон вредности)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Мантиса – 7 бита (смањена прецизност у односу на fp32)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Конверзија се врши директним одсецањем (truncation) вредности.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int8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даљим смањењем броја битова долази се до квантизације на 8 бита: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До 4× мања величина тежина у односу на float32.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Убрзање рачунања захваљујући бржим integer операцијама хардвера.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Највећи пад у прецизности модела од свих наведених формата.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51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51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51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1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5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51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2" name="Google Shape;562;p51" title="bf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850" y="1333903"/>
            <a:ext cx="4298523" cy="275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51" title="int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5375" y="4317004"/>
            <a:ext cx="4243632" cy="24647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5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5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5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5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Симетрична и асиметрична квантизација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5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Симетрична квантизација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мапира опсег fp32 симетрично у int8 опсег [−127, 127], при чему вредност 0 остаје 0: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Фактор скалирања: s = (2^(b−1) − 1) / α, где је α највећа апсолутна вредност.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Квантизација: x_q = round(s · x);  Деквантизација: x_d = x_q / 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Асиметрична квантизација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користи најмању (β) и највећу (α) вредност и мапира опсег [−β, α] на [−128, 127]: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Фактор скалирања: s = 255 / (α − β);  zero-point: z = round(−s·β) − 2^(b−1).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Боље чува прецизност када вредности нису симетричне око нуле (нпр. опсег [0,1]).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Outlieri и clipping – једна изразито велика вредност у вектору може поништити остале мале вредности после квантизације; clipping одсеца вредности ван опсега [−α, α].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Квантизација током тренинга (quantization-aware) даје боље резултате од квантизације након тренинга, јер модел узима у обзир ефекат квантизације.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3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53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3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53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53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3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53"/>
          <p:cNvSpPr/>
          <p:nvPr/>
        </p:nvSpPr>
        <p:spPr>
          <a:xfrm>
            <a:off x="-464" y="1925585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53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Конволуциони модел AVER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5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5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AVER модел – Увод и мотивација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5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AVER (Audio-Visual Emotion Recognition) је мултимодални модел базиран на конволуционим неуронским мрежама.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Главне карактеристике модела: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Лаган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примерен за edge и embedded уређаје (мали број параметара).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Приватан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федерализовано учење обезбеђује приватност аудиовизуелних података.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Брз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ниска рачунска сложеност за брзу инференцију.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Мултимодалан: обрада и аудио и видео снимака.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Мотивација: Трансформер архитектуре постижу боље резултате, али су прескупе за локалну примену.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Циљ: постићи задовољавајући квалитет препознавања уз очување приватности и брзине.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5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5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5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5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5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5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5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Обрада видео снимака – MobileNetV2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5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 обраду видео снимака лица користи се претренирани MobileNetV2 модел (ImageNet).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Аутори додали линеарни слој са 6 излаза (класа):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бес, гађење, страх, срећа, туга, изненађење.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Предобрада видео снимака: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 снимка се издвајају фрејмови на сваких 8 слика.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Сваки фрејм скалира се на 224×224 пиксела (захтевани улаз MobileNetV2).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Основни блок MobileNetV2 – Инвертовани резидуални блок: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1×1 конволуција са t канала – пројектовање у виши простор.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3×3 дубинска конволуција (depthwise convolution) – убрзање рачунања.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1×1 конволуција са c канала – редуковање димензија.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Skip конекција – очување оригиналних информација.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5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5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5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5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5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5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MobileNetV2 – Параметри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5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2.63M – Укупан број параметара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0.37M – Параметара за тренирање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10.3MB – Величина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224×224 – Димензија улазне слике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 – Излазних класа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ReLU6 – Активациона функција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5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5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5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7"/>
          <p:cNvSpPr/>
          <p:nvPr/>
        </p:nvSpPr>
        <p:spPr>
          <a:xfrm>
            <a:off x="500001" y="360897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MobileNetV2 – Детаљи архитектуре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5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MobileNetV2 је пројектован за ефикасну инференцију на мобилним уређајима: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Основни блок: Инвертовани резидуални блок (Inverted Residual Block)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На излазу блокова се користи ReLU6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Комплетна архитектура (16 слојева):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Улаз 224×224×3 → Conv2D (stride 2) → 112×112×32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t=1, c=16, 1 блок, stride=1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c=24, 2 блока, stride=2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c=32, 3 блока, stride = 2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c=64, 4 блока, stride = 2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96, 3 блока, stride = 1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160, 3 блока, stride = 2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320, 1 блока, stride = 1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1×1 → GlobalAvgPool 7×7 → Linear (6 класа)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5.png" id="636" name="Google Shape;636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2675" y="2510767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58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58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58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58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5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58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7" name="Google Shape;647;p58" title="ir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4475" y="2204752"/>
            <a:ext cx="8147451" cy="334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5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5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5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5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5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5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59"/>
          <p:cNvSpPr/>
          <p:nvPr/>
        </p:nvSpPr>
        <p:spPr>
          <a:xfrm>
            <a:off x="500001" y="37767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Дубинска конволуција (Depthwise Convolution)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5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Стандардна конволуција: сваки филтер има онолико канала колико и улаз.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 слику са 3 канала: 3D филтери – рачунски скупо.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Depthwise separable конволуција (MobileNetV2 оптимизација):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Корак 1 – Depthwise конволуција: сваки филтер има само 1 канал; примењује се над сваким каналом засебно.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Корак 2 – Pointwise конволуција: 1×1 конволуција комбинује канале.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Редукција броја операција: умањење за фактор k (број канала).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значајно убрзање на уређајима са слабим процесором.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6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6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6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6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6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6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60"/>
          <p:cNvSpPr/>
          <p:nvPr/>
        </p:nvSpPr>
        <p:spPr>
          <a:xfrm>
            <a:off x="500001" y="377684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Обрада аудио снимака – Спектрограм CNN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6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Снимци говора претварају се у спектрограме путем Short-Time Fourier Transform (STFT):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Аудио дели се на исечке од 1 секунде.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Задњи сегмент краћи од 0.7s се одбацује; дужи се допуњава репликацијом.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STFT коефицијенти конвертују се у PNG слике величине 128×170 пиксела.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Архитектура CNN за обраду спектрограма: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MaxPool2D: 64 филтера, 7×7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AvgPool2D: 128 филтера, 7×7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AvgPool2D: 256 филтера, 3×3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AvgPool2D: 512 филтера, 3×3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Flatten → Dense (4096 неурона) → Dropout (50%) → Dense (6 неурона)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6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6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6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6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6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6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6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CNN за аудио – Параметри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6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6.1M – Параметара за тренирање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23.3MB – Величина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128×170 – Величина спектрограма (px)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1s – Дужина аудио сегмента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4096 – Неурона у Dense слоју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50% – Стопа Dropout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6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6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6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6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6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6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6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Систем гласања и комбиновање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6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Оба модела (видео и аудио) производе секвенцу 6-димензионалних вектора вероватноће за сваки сегмент.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Стандардно решење за обраду секвенци (LSTM, Transformer) је одбачено ради перформанси на embedded уређајима.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Систем гласања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(Voting System):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Рачуна се просек излазних вероватноћа свих фрејмова видео модела.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Рачуна се просек излазних вероватноћа свих аудио сегмената.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Финална предикција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просек ова два усредњена гласа.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Предности система гласања: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Без додатних параметара – минимална рачунска сложеност.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Робусност на шум у појединачним фрејмовима или сегментима.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Конзистентно побољшање у односу на предикцију из јединственог сегмента.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63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63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63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63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6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3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6" name="Google Shape;706;p63" title="voting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725" y="1878508"/>
            <a:ext cx="8094400" cy="337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6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6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6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6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6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6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6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у AVER моделу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6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Федерализовано учење примењује се само на аудио CNN модел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Алгоритам за AVER: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Централни сервер иницијализује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глобални модел са тежинама w_0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Избор клијената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S_t ⊂ max(F×N, 1) клијената по рунди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Дистрибуција модела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где сваки клијенат добија копију модела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Сваки клијент врши локално тренирање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w^i_(t+1) ← ClientUpdate(i, w_t)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Агрегација и ажурирање глобалног модела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Функција губитака: категорична унакрсна ентропија (cross-entropy).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Напомена: Мали број параметара за тренирање (0.37M) чини FL неефикасним за видео модел.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6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6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6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6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6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6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6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Скуп података – eNTERFACE'05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6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Експерименти вршени на eNTERFACE'05 аудиовизуелном скупу података: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42 говорника, 14 различитих националности.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 емоционалних класа: бес, гађење, страх, срећа, туга, изненађење.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Задатак: препознавање емоција зависно од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Подела клијената: 3 клијента, по 14 говорника по клијенту.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Протокол евалуације: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Прва фаза: тренирање без федерализованог учења (baseline).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Друга фаза: тренирање са федерализованим учењем за аудио CNN.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Евалуацијске метрике: Precision, Recall, F1-Score, Classification Accuracy.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6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6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6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6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6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6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6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Резултати AVER модела – без федерализованог учења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6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~80% – Прецизност видео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~46% – Прецизност аудио (1 спектрограм)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~90% – Мултимодална прецизност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до 9% – Варијација по клијентима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3" name="Google Shape;743;p66" title="aver_nof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6725" y="3429000"/>
            <a:ext cx="7610539" cy="201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6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6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6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6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6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6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6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Резултати AVER модела – са федерализованим учењем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6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до +10% – Побољшање аудио са FL и гласањем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92–94% – Финална мултимодална прецизност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+1.19–3.57% – Побољшање аудио без гласања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6" name="Google Shape;756;p67" title="aver_f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2038" y="3031807"/>
            <a:ext cx="7635916" cy="201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6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6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6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6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6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6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6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Предности и недостаци AVER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6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Изузетно мали број параметара, погодан за edge уређаје.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штити приватност аудиовизуелних података.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Брзо извршавање у реалном времену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Систем гласања конзистентно побољшава резултате.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Комбинација аудио и видео модала побољшава перформансе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Недостаци: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Нижа прецизност у поређењу са комплекснијим архитектурама.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 CNN слабо генерализује (F1 ~0.45 без федерализованог учења).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69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69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69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69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69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69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69"/>
          <p:cNvSpPr/>
          <p:nvPr/>
        </p:nvSpPr>
        <p:spPr>
          <a:xfrm>
            <a:off x="-226" y="1847835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69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модел COGMEN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7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7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7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7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7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7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7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COGMEN – Увод и мотивација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7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COGMEN 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(COntextualized GNN based Multimodal Emotion recognitioN) је мултимодалан граф модел.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Главна мотивација: постојећи модели предвиђају емоције из изолованих сегмената.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 реалном разговору, емоције зависе од: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Глобалног контекста разговора тј. тема и атмосфера целе конверзације.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Унутрашњег стања говорника тј. претходне емоције истог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Утицаја других говорника тј. речи, тон и изрази осталих учесника.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моделује сва три типа информација путем: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 енкодера (глобални контекст)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Релационе ГНМ за интра/интер говорне релације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Граф трансформера за финалну агрегацију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7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7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7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7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7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7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7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Три типа контекстуалних информација у COGMEN-у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7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Глобални контекст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Тема разговора утиче на тип и интензитет емоција.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Срећан контекст =&gt;  претежно позитивне емоције.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Моделовање помоћу трансформер енкодера над свим изговорима.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Унутрашње стање говорника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Eмоције у тренутку t зависе од свих претходних изговора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Интра релације у графу - повезивање изговора истог говорника.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Утицај других говорника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Изрази, тон и речи других говорника утичу на емоционално стање.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Интер релације у графу – повезивање изговора различитих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7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7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7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7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7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7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7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Архитектура </a:t>
            </a: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COGMEN – Преглед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7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се састоји од 5 главних компонената: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Контекст екстрактор – Трансформер енкодер за енкодирање мултимодалних изговора.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Формирање графа – Дефинисање чворова (изговори) и ивица (интра/интер релације).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Релациона граф НМ (RGCN) – Агрегација репрезентација по типу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Граф трансформер (GT) – Attention механизам за финалну агрегацију чворова.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Класификатор емоција – Линеарни слој са ReLU и softmax активацијом.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Улаз: аудио, текст и видео феатури за сваки изговор у разговору.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Излаз: предикција емоционалне класе за сваки изговор сваког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73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73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73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73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7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73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7" name="Google Shape;827;p73" title="cogmen_arch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6005" y="1726450"/>
            <a:ext cx="8675549" cy="404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7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7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7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7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7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7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74"/>
          <p:cNvSpPr/>
          <p:nvPr/>
        </p:nvSpPr>
        <p:spPr>
          <a:xfrm>
            <a:off x="500001" y="3624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Контекст екстрактор – Трансформер енкодер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7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Улази модела су аудио, текстуални и видео подаци сваког од изговора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Конкатенацијом добијамо улаз трансформер енкдоера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 енкодер са H attention head-ова учи зависности међу изговорима: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Рачуна се attention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Излаз: U = LayerNorm(X + U') – резидуална конекција и нормализација, при чему је U’ излаз свих attention глава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Финалне репрезентације изговора: Z = [z_1, z_2, ..., z_n]^T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7.png" id="840" name="Google Shape;840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0075" y="1510658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18.png" id="841" name="Google Shape;841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0075" y="2082955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19.png" id="842" name="Google Shape;842;p7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43875" y="4803616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7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343877" y="3035050"/>
            <a:ext cx="2439062" cy="126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7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7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7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7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7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7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7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Формирање графа у COGMEN-у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7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Разговор M говорника: D = {U_S1, U_S2, ..., U_SM}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Сваки изговор z_i постаје чвор у графу изговора.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Два типа ивица (релација):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Интра релације: веза говорника са сопственим претходним изговорима.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Интер релације: веза са изговорима других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Прозори контекста: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– прозор прошлих изговора (Past window)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 – прозор будућих изговора (Future window)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Оптималне вредности: P = 4 и F = 4 (утврђено експериментално).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7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7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7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7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7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7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7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Релациона граф неуронска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7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RGCN ажурира репрезентације чворова агрегацијом по типу релације.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Ажурирање репрезентације чвора i у слоју l: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N^r(i): скуп суседа чвора i са релацијом типа 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θ_root: матрица тежина за самосвезивање (self-loop) чвора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θ_r: матрица тежина за релацију типа r (различита за интра и интер)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Нормализација по броју суседа ||N^r(i)|| спречава доминацију чворова с много суседа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20.png" id="868" name="Google Shape;868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0625" y="1955396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7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7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7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7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7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7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7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трансформер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7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На основу излаза RGCN-а H = {x'_1, x'_2, ..., x'_n}, граф трансформер рачуна финалне репрезентације: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Директно моделовање зависности удаљених чворова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Могућност учења вишеструких врста зависности (multi-head attention)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21.png" id="881" name="Google Shape;881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9175" y="2134888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22.png" id="882" name="Google Shape;882;p7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19175" y="2639475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7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7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7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7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7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7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7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Класификатор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7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Финални слој класификатора ради на следећи начин: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Хиперпараметри за IEMOCAP скуп: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Dropout: 0.1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Број attention head-ова: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Број слојева контекст енкодера (SeqContext):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Иницијална стопа учења (learning rate): 1×10^−4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5" name="Google Shape;895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11976" y="1843750"/>
            <a:ext cx="2795869" cy="10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9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7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7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7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7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7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7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79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Хиперпараметри за MOSEI скуп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7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 MOSEI скуп постоје три конфигурације у зависности од коришћених модалитета: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Само текст (T): Dropout: 0.399, Attention heads: 3, SeqContext: 5, LR: 3.3×10^−3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 + Текст (A+T): Dropout: 0.103, Attention heads: 1, SeqContext: 2, LR: 6.9×10^−3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 + Видео + Текст (A+V+T): Dropout: 0.337, Attention heads: 2, SeqContext: 12, LR: 1.1×10^−3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Прозори контекста: P = 4 и F = 4 – оптимум утврђен мрежном претрагом хиперпараметара.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8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8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8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8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8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8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8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Скуп података IEMOCAP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8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IEMOCAP (Interactive Emotional Dyadic Motion Capture) – стандардни мултимодални скуп: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 емоционалних класа: бес, узбуђење, туга, срећа, фрустрација, неутрално стање.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Feature-и: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Аудио: 100 компоненти, екстрактовано помоћу OpenSmile алата.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Видео: 512-D вектори из OpenFace 2.0 (Facial Behavior Analysis Toolkit).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Текст: 768-D вектори екстрактовани sBERT моделом.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Два протокола тестирања: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Скуп са 6 емоција (пун скуп).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Подскуп са 4 емоције: бес, туга, срећа, неутрално стање.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3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8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8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" name="Google Shape;926;p8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8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8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8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8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Резултати COGMEN-а на IEMOCAP – 6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8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68.2% – Просечна прецизност (Acc.)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67.6% – Просечан F1-Score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+4% – Побољшање vs. претходно SOTA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75.3% – F1 за узбуђење (најбоља класа)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2" name="Google Shape;932;p81" title="iemocap_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50" y="3103955"/>
            <a:ext cx="8065675" cy="294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8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8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8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8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8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8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8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Резултати COGMEN-а на IEMOCAP – 4 емоције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8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84.50% – F1-Score (4 емоције)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+7.7% – Побољшање vs. CHFusion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bc-LSTM: 75.13% – F1 базелин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CHFusion: 76.80% – F1 другог упоређеног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5" name="Google Shape;945;p82" title="iemocap_4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7638" y="3320017"/>
            <a:ext cx="6624725" cy="1476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8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8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8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8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8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8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8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Скуп података MOSEI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8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MOSEI (Multimodal Opinion Sentiment and Emotion Intensity):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Сваки изговор носи две лабеле: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Емоционална класа: срећа, туга, гађење, страх, изненађење, бес.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Сентимент: нумеричка вредност у распону [−3, +3].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Feature-и: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Аудио: 80-D вектори из рада о трансформер joint-encoding.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Видео: 35-D вектори из CMU-MOSEI dynamic fusion graph.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Текст: 768-D вектори sBERT модела.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Два режима тестирања: бинарна класификација и multi-label класификација.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8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8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8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8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8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8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8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Резултати COGMEN-а на MOSEI скупу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8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85% – Прецизност сентимента (2 класе, A+T)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84.34% – Прецизност (A+V+T, multi-label)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88.37% – F1 изненађења (A+V+T)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Боље – Перформанса vs. TBJE и Multilogue-Net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0" name="Google Shape;970;p84" title="mose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0087" y="3391602"/>
            <a:ext cx="8337226" cy="265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8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8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8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8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8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8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8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Оптимизација COGMEN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8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постиже одличне резултате у мултимодалном препознавању емоција, али уз велику рачунску цену – непрактичан за edge и mobile уређаје.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Решење: квантизација модела након тренинга (post-training quantization), ради смањења меморијске захтевности и убрзања инференције.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Два испробана приступа: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Квантизација само слојева са преко милион параметара (8 слојева код COGMEN-а).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Квантизација свих параметара модела.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Перформансе пре квантизације (baseline):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Macro-averaged – Precision 82.39%, Recall 81.24%, F1-score 81.66%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Weighted average – Precision 82.22%, Recall 81.97%, F1-score 81.96%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accuracy – 81.97%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6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8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8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8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8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8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8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8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Бинаризација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8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Бинаризација – екстреман облик квантизације: свака тежина се мапира на +1 или −1 помоћу функције x_b = sign(x).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Предности: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до 32× (float32) односно 64× (float64) мања меморија; погодно за имплементацију логичким колима на FPGA хардверу.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Резултати (слојеви &gt;1M параметара):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Precision 49.42%, Recall 36.85%, F1-score 35.25%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Резултати (сви параметри):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Precision 38.23%, Recall 32.32%, F1-score 29.03%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Значајан пад перформанси – могући разлог: расподела тежина модела не прати Лапласову расподелу око нуле.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5" name="Google Shape;995;p86" title="cogmen_b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7638" y="4794881"/>
            <a:ext cx="6624725" cy="1533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8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8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8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8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8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8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8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FP8 квантизација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8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FP8 формат: 1 sign бит + 5 бита експонента + 2 бита мантисе.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Резултати (сви параметри):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Precision 80.99%, Recall 82.58%, F1-score 81.71% – практично идентично оригиналу.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Квантизација свих параметара даје боље резултате него квантизација само слојева са преко милион параметара.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Меморијска уштеда: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Full-precision 103.1MB → FP8 25.8MB (4× мање) → Binarization 3.22MB (32× мање, али уз велики пад прецизности).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FP8 представља најбољи компромис – 4× мања меморија без губитка прецизности модела.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8" name="Google Shape;1008;p87" title="cogmen_fp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3963" y="4514650"/>
            <a:ext cx="6624725" cy="1535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8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8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8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8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8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8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8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Предности и недостаци COGMEN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8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Предности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Тренутно најбољи резултати у мултимодалном АПЕ у разговору.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Моделује сва три типа контекстуалних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Флексибилан: прилагодљив за различит број модалитета.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Недостаци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Висока рачунска сложеност – непрактичан за edge уређаје. </a:t>
            </a:r>
            <a:r>
              <a:rPr lang="sr-Cyrl-RS" sz="1600">
                <a:solidFill>
                  <a:schemeClr val="dk1"/>
                </a:solidFill>
              </a:rPr>
              <a:t>Недостатак може бити ублажен квантизацијом.</a:t>
            </a:r>
            <a:endParaRPr sz="1600">
              <a:solidFill>
                <a:schemeClr val="dk1"/>
              </a:solidFill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Велики број параметара – захтева моћан хардвер.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Осетљив на избор хиперпараметара (SeqContext, heads).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4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89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89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89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89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89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89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89"/>
          <p:cNvSpPr/>
          <p:nvPr/>
        </p:nvSpPr>
        <p:spPr>
          <a:xfrm>
            <a:off x="-464" y="1784385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89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Упоређење модела и закључак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6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9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" name="Google Shape;1038;p9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9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9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9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9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Упоредна анализа – Архитектура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9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AVER модел – архитектура: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Конволуциона мрежа за видео (MobileNetV2) + конволуциона мрежаза аудио спектрограме + систем гласања.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за аудио компоненту.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Укупно ~8.7M параметара; величина ~33.6MB.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модел – архитектура: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 енкодер → RGCN → Граф трансформер → Класификатор.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Мултимодалне улазне репрезентације из предтренираних модела (OpenSmile, OpenFace, sBERT).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Значајно сложенија архитектура са већим бројем хиперпараметара.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8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9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9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9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9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9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" name="Google Shape;1054;p9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9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Када користити који модел?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9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AVER – препоручен за: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Примена на уређајима са ограниченим хардверским ресурсима (embedded, mobile).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Сценарији где је приватност података критична (медицина, личне апликације).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Ситуације где је брзина извршавања важнија од максималне прецизности.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Задаци препознавања емоција из кратких, изолованих аудиовизуелних снимака.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– препоручен за: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Апликације где је прецизност примарни захтев.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Анализа дугих разговора са вишеструким говорницима.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Моћнији хардвер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Google Shape;1061;p9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9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9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9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9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9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Закључак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9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Анализирали смо две различите архитектуре за аутоматско препознавање емоција: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AVER: Конволуционе мреже + федерализовано учење – 92–94% прецизности, приватан и ефикасан за embedded уређаје.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COGMEN: Трансформер + RGCN + Граф трансформер – тренутно најбољи у мултимодалном препознавању емоција у разговору.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Закључак: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Не постоји универзално најбоље решење – избор архитектуре зависи од контекста примене.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Компромис: прецизност или ефикасност/приватност.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93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" name="Google Shape;1074;p93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93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93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" name="Google Shape;1077;p9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" name="Google Shape;1078;p93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93"/>
          <p:cNvSpPr/>
          <p:nvPr/>
        </p:nvSpPr>
        <p:spPr>
          <a:xfrm>
            <a:off x="502576" y="5148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Литература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93"/>
          <p:cNvSpPr txBox="1"/>
          <p:nvPr/>
        </p:nvSpPr>
        <p:spPr>
          <a:xfrm>
            <a:off x="786825" y="1573650"/>
            <a:ext cx="67803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-"/>
            </a:pPr>
            <a:r>
              <a:rPr b="0" i="0" lang="sr-Cyrl-R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Enhancing Emotion Recognition through Federated Learning: A Multimodal Approach with Convolutional Neural Networks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-"/>
            </a:pPr>
            <a:r>
              <a:rPr b="0" i="0" lang="sr-Cyrl-R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COGMEN: COntextualized GNN based Multimodal Emotion recognitioN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sr-Cyrl-RS" sz="2000"/>
              <a:t>Multimodal Emotion Recognition Using Compressed Graph Neural Networks</a:t>
            </a:r>
            <a:endParaRPr sz="200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9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9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9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9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9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9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94"/>
          <p:cNvSpPr/>
          <p:nvPr/>
        </p:nvSpPr>
        <p:spPr>
          <a:xfrm>
            <a:off x="502576" y="5148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Литература - линкови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94"/>
          <p:cNvSpPr/>
          <p:nvPr/>
        </p:nvSpPr>
        <p:spPr>
          <a:xfrm>
            <a:off x="231300" y="1408300"/>
            <a:ext cx="8912700" cy="4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https://milvus.io/ai-quick-referencehow-can-convolutional-neural-networks-cnns-be-applied-to-audio--data 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https://medium.com/@RobuRishabh/recurrent-neural-network-rnn-8412b9abd755 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https://medium.com/@fredroj/recurrent-neural-network-rnn-cell-internal-mechanism-ff5eca732adb 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https://www.geeksforgeeks.org/machine-learning/introduction-to-recurrent-neural-network/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https://colah.github.io/posts/2015-08-Understanding-LSTMs/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https://poloclub.github.io/transformer-explainer/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https://medium.com/data-science/introduction-to-attention-mechanism-in-deep-learning-eli5-way--d6c2d799ef18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https://medium.com/@paulpierre/eli5-transformers-gpt-and-the-power-of-the-attention-mechanic--6504693f2c3f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8"/>
              </a:rPr>
              <a:t>https://www.d2l.ai/chapter_attention-mechanisms-and-transformers/queries-keys-values.html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https://apxml.com/courses/introduction-to-transformer-models/chapter-2-self-attention-multi-head-at tention/query-key-value-vectors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9"/>
              </a:rPr>
              <a:t>https://kumo.ai/research/introduction-to-graph-transformers/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10"/>
              </a:rPr>
              <a:t>https://newsletter.maartengrootendorst.com/p/a-visual-guide-to-quantization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b="0" i="0" lang="sr-Cyrl-RS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https://www.dgl.ai/dgl_docs/tutorials/models/1_gnn/4_rgcn.html 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7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p95"/>
          <p:cNvSpPr/>
          <p:nvPr/>
        </p:nvSpPr>
        <p:spPr>
          <a:xfrm>
            <a:off x="0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" name="Google Shape;1099;p95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95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p95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95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9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95"/>
          <p:cNvSpPr/>
          <p:nvPr/>
        </p:nvSpPr>
        <p:spPr>
          <a:xfrm>
            <a:off x="0" y="445197"/>
            <a:ext cx="52920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None/>
            </a:pPr>
            <a:r>
              <a:t/>
            </a:r>
            <a:endParaRPr b="1" i="0" sz="3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AVREMENE TEHNOLOGIJE ČUVANJA VOĆA I POVRĆA POSLE BERBE" id="1105" name="Google Shape;1105;p9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35696" y="1556792"/>
            <a:ext cx="5292080" cy="3913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